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977639" cy="6858000"/>
          </a:xfrm>
          <a:prstGeom prst="rect">
            <a:avLst/>
          </a:prstGeom>
          <a:solidFill>
            <a:srgbClr val="17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3036601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 Display"/>
              </a:rPr>
              <a:t>XAI Medical
Baseline Slides</a:t>
            </a:r>
          </a:p>
          <a:p>
            <a:r>
              <a:rPr sz="2000">
                <a:solidFill>
                  <a:srgbClr val="FFFFFF"/>
                </a:solidFill>
                <a:latin typeface="Aptos"/>
              </a:rPr>
              <a:t>Heart Disease + Diabetes
LIME work still in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0"/>
            <a:ext cx="293593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>
                <a:solidFill>
                  <a:srgbClr val="E0EBF5"/>
                </a:solidFill>
              </a:rPr>
              <a:t>Explainable AI for medical </a:t>
            </a:r>
            <a:endParaRPr lang="en-US" sz="2000" dirty="0">
              <a:solidFill>
                <a:srgbClr val="E0EBF5"/>
              </a:solidFill>
            </a:endParaRPr>
          </a:p>
          <a:p>
            <a:r>
              <a:rPr sz="2000" dirty="0">
                <a:solidFill>
                  <a:srgbClr val="E0EBF5"/>
                </a:solidFill>
              </a:rPr>
              <a:t>risk prediction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822960"/>
            <a:ext cx="672084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rgbClr val="212529"/>
                </a:solidFill>
              </a:rPr>
              <a:t>What this deck shows</a:t>
            </a:r>
          </a:p>
          <a:p>
            <a:r>
              <a:rPr sz="2000" dirty="0">
                <a:solidFill>
                  <a:srgbClr val="212529"/>
                </a:solidFill>
              </a:rPr>
              <a:t>Baseline models on both datasets</a:t>
            </a:r>
          </a:p>
          <a:p>
            <a:r>
              <a:rPr sz="2000" dirty="0">
                <a:solidFill>
                  <a:srgbClr val="212529"/>
                </a:solidFill>
              </a:rPr>
              <a:t>Simple feature engineering</a:t>
            </a:r>
          </a:p>
          <a:p>
            <a:r>
              <a:rPr sz="2000" dirty="0">
                <a:solidFill>
                  <a:srgbClr val="212529"/>
                </a:solidFill>
              </a:rPr>
              <a:t>Key graphs from the pipeline</a:t>
            </a:r>
          </a:p>
          <a:p>
            <a:r>
              <a:rPr sz="2000" dirty="0">
                <a:solidFill>
                  <a:srgbClr val="212529"/>
                </a:solidFill>
              </a:rPr>
              <a:t>LIME status: planned, not final yet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2971800"/>
            <a:ext cx="32461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rgbClr val="174E7C"/>
                </a:solidFill>
              </a:rPr>
              <a:t>Status</a:t>
            </a:r>
          </a:p>
          <a:p>
            <a:r>
              <a:rPr sz="2000" dirty="0">
                <a:solidFill>
                  <a:srgbClr val="212529"/>
                </a:solidFill>
              </a:rPr>
              <a:t>Heart pipeline completed</a:t>
            </a:r>
          </a:p>
          <a:p>
            <a:r>
              <a:rPr sz="2000" dirty="0">
                <a:solidFill>
                  <a:srgbClr val="212529"/>
                </a:solidFill>
              </a:rPr>
              <a:t>Diabetes pipeline completed</a:t>
            </a:r>
            <a:endParaRPr lang="en-US" sz="2000" dirty="0">
              <a:solidFill>
                <a:srgbClr val="212529"/>
              </a:solidFill>
            </a:endParaRPr>
          </a:p>
          <a:p>
            <a:r>
              <a:rPr lang="en-US" sz="2000" dirty="0">
                <a:solidFill>
                  <a:srgbClr val="212529"/>
                </a:solidFill>
              </a:rPr>
              <a:t>Lime Discussions done</a:t>
            </a:r>
            <a:endParaRPr sz="2000" dirty="0">
              <a:solidFill>
                <a:srgbClr val="212529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92440" y="2971800"/>
            <a:ext cx="32918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174E7C"/>
                </a:solidFill>
              </a:rPr>
              <a:t>Members</a:t>
            </a:r>
            <a:endParaRPr lang="en-US" sz="2000" dirty="0">
              <a:solidFill>
                <a:srgbClr val="174E7C"/>
              </a:solidFill>
            </a:endParaRPr>
          </a:p>
          <a:p>
            <a:pPr algn="ctr"/>
            <a:r>
              <a:rPr lang="en-US" sz="2000" dirty="0">
                <a:solidFill>
                  <a:srgbClr val="174E7C"/>
                </a:solidFill>
              </a:rPr>
              <a:t>Haseeb Farooq</a:t>
            </a:r>
          </a:p>
          <a:p>
            <a:pPr algn="ctr"/>
            <a:r>
              <a:rPr lang="en-US" sz="2000" dirty="0">
                <a:solidFill>
                  <a:srgbClr val="174E7C"/>
                </a:solidFill>
              </a:rPr>
              <a:t>Zainab Salman</a:t>
            </a:r>
          </a:p>
          <a:p>
            <a:pPr algn="ctr"/>
            <a:r>
              <a:rPr lang="en-US" sz="2000" dirty="0">
                <a:solidFill>
                  <a:srgbClr val="174E7C"/>
                </a:solidFill>
              </a:rPr>
              <a:t>Luqman Azhar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7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230390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212529"/>
                </a:solidFill>
                <a:latin typeface="Aptos Display"/>
              </a:rPr>
              <a:t>Project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37360"/>
            <a:ext cx="5669280" cy="204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2000" dirty="0">
                <a:solidFill>
                  <a:srgbClr val="212529"/>
                </a:solidFill>
                <a:latin typeface="Aptos"/>
              </a:rPr>
              <a:t>Goal: predict heart disease and diabetes risk with simple, interpretable models.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2000" dirty="0">
                <a:solidFill>
                  <a:srgbClr val="212529"/>
                </a:solidFill>
                <a:latin typeface="Aptos"/>
              </a:rPr>
              <a:t>Current stage: data cleaning, feature engineering, and baseline evaluation are done.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2000" dirty="0">
                <a:solidFill>
                  <a:srgbClr val="212529"/>
                </a:solidFill>
                <a:latin typeface="Aptos"/>
              </a:rPr>
              <a:t>Next stage: add LIME explanations on selected cases and refine the report.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645920"/>
            <a:ext cx="4709160" cy="2743200"/>
          </a:xfrm>
          <a:prstGeom prst="roundRect">
            <a:avLst/>
          </a:prstGeom>
          <a:solidFill>
            <a:srgbClr val="F1F5F9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rgbClr val="212529"/>
                </a:solidFill>
              </a:rPr>
              <a:t>Current deliverables</a:t>
            </a:r>
          </a:p>
          <a:p>
            <a:r>
              <a:rPr sz="2000" dirty="0">
                <a:solidFill>
                  <a:srgbClr val="212529"/>
                </a:solidFill>
              </a:rPr>
              <a:t>• Two notebooks / pipelines</a:t>
            </a:r>
          </a:p>
          <a:p>
            <a:r>
              <a:rPr sz="2000" dirty="0">
                <a:solidFill>
                  <a:srgbClr val="212529"/>
                </a:solidFill>
              </a:rPr>
              <a:t>• Baseline metrics</a:t>
            </a:r>
          </a:p>
          <a:p>
            <a:r>
              <a:rPr sz="2000" dirty="0">
                <a:solidFill>
                  <a:srgbClr val="212529"/>
                </a:solidFill>
              </a:rPr>
              <a:t>• Plots for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428232"/>
            <a:ext cx="11384280" cy="2743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1284088" y="6455664"/>
            <a:ext cx="31611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dirty="0">
                <a:solidFill>
                  <a:srgbClr val="6E7681"/>
                </a:solidFill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7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290573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212529"/>
                </a:solidFill>
                <a:latin typeface="Aptos Display"/>
              </a:rPr>
              <a:t>Dataset Snapshot</a:t>
            </a:r>
          </a:p>
        </p:txBody>
      </p:sp>
      <p:pic>
        <p:nvPicPr>
          <p:cNvPr id="5" name="Picture 4" descr="targ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63364"/>
            <a:ext cx="6400800" cy="3429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0" y="1600200"/>
            <a:ext cx="438912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2000" dirty="0">
                <a:solidFill>
                  <a:srgbClr val="212529"/>
                </a:solidFill>
                <a:latin typeface="Aptos"/>
              </a:rPr>
              <a:t>Heart cleaned rows: 302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2000" dirty="0">
                <a:solidFill>
                  <a:srgbClr val="212529"/>
                </a:solidFill>
                <a:latin typeface="Aptos"/>
              </a:rPr>
              <a:t>Diabetes rows: 768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2000" dirty="0">
                <a:solidFill>
                  <a:srgbClr val="212529"/>
                </a:solidFill>
                <a:latin typeface="Aptos"/>
              </a:rPr>
              <a:t>Target balance is not extreme, but recall still matters.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2000" dirty="0">
                <a:solidFill>
                  <a:srgbClr val="212529"/>
                </a:solidFill>
                <a:latin typeface="Aptos"/>
              </a:rPr>
              <a:t>Use simple splits and keep the workflow transparent.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428232"/>
            <a:ext cx="11384280" cy="2743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1284088" y="6455664"/>
            <a:ext cx="31611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dirty="0">
                <a:solidFill>
                  <a:srgbClr val="6E7681"/>
                </a:solidFill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7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TextBox 3"/>
          <p:cNvSpPr txBox="1"/>
          <p:nvPr/>
        </p:nvSpPr>
        <p:spPr>
          <a:xfrm>
            <a:off x="680555" y="1297781"/>
            <a:ext cx="49279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212529"/>
                </a:solidFill>
                <a:latin typeface="Aptos Display"/>
              </a:rPr>
              <a:t>Cleaning + Feature Engineering</a:t>
            </a:r>
            <a:endParaRPr sz="2800" dirty="0">
              <a:solidFill>
                <a:srgbClr val="6E7681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94446" y="2339530"/>
            <a:ext cx="5486400" cy="2811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2000" dirty="0">
                <a:solidFill>
                  <a:srgbClr val="212529"/>
                </a:solidFill>
                <a:latin typeface="Aptos"/>
              </a:rPr>
              <a:t>Removed duplicates and handled missing values.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2000" dirty="0">
                <a:solidFill>
                  <a:srgbClr val="212529"/>
                </a:solidFill>
                <a:latin typeface="Aptos"/>
              </a:rPr>
              <a:t>Standardized numeric columns before modeling.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2000" dirty="0">
                <a:solidFill>
                  <a:srgbClr val="212529"/>
                </a:solidFill>
                <a:latin typeface="Aptos"/>
              </a:rPr>
              <a:t>Added a few low-cost engineered features:</a:t>
            </a:r>
          </a:p>
          <a:p>
            <a:pPr lvl="1">
              <a:lnSpc>
                <a:spcPct val="100000"/>
              </a:lnSpc>
              <a:spcAft>
                <a:spcPts val="400"/>
              </a:spcAft>
            </a:pPr>
            <a:r>
              <a:rPr sz="2000" dirty="0">
                <a:solidFill>
                  <a:srgbClr val="212529"/>
                </a:solidFill>
                <a:latin typeface="Aptos"/>
              </a:rPr>
              <a:t>squared terms</a:t>
            </a:r>
          </a:p>
          <a:p>
            <a:pPr lvl="1">
              <a:lnSpc>
                <a:spcPct val="100000"/>
              </a:lnSpc>
              <a:spcAft>
                <a:spcPts val="400"/>
              </a:spcAft>
            </a:pPr>
            <a:r>
              <a:rPr sz="2000" dirty="0">
                <a:solidFill>
                  <a:srgbClr val="212529"/>
                </a:solidFill>
                <a:latin typeface="Aptos"/>
              </a:rPr>
              <a:t>simple interaction features</a:t>
            </a:r>
          </a:p>
          <a:p>
            <a:pPr lvl="1">
              <a:lnSpc>
                <a:spcPct val="100000"/>
              </a:lnSpc>
              <a:spcAft>
                <a:spcPts val="400"/>
              </a:spcAft>
            </a:pPr>
            <a:r>
              <a:rPr sz="2000" dirty="0">
                <a:solidFill>
                  <a:srgbClr val="212529"/>
                </a:solidFill>
                <a:latin typeface="Aptos"/>
              </a:rPr>
              <a:t>ratio-style indicators where useful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1600200"/>
            <a:ext cx="5486400" cy="2834640"/>
          </a:xfrm>
          <a:prstGeom prst="roundRect">
            <a:avLst/>
          </a:prstGeom>
          <a:solidFill>
            <a:srgbClr val="F1F5F9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212529"/>
                </a:solidFill>
              </a:rPr>
              <a:t>How to choose baseline model?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12529"/>
                </a:solidFill>
              </a:rPr>
              <a:t>Objective metric: for medical tasks, prioritize recall/F1 (and ROC-AUC), not just accuracy.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12529"/>
                </a:solidFill>
              </a:rPr>
              <a:t>Prefer the simplest model that gives stable cross-validation performance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endParaRPr sz="2000" b="1" dirty="0">
              <a:solidFill>
                <a:srgbClr val="212529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11480" y="6428232"/>
            <a:ext cx="11384280" cy="2743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1284088" y="6455664"/>
            <a:ext cx="31611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dirty="0">
                <a:solidFill>
                  <a:srgbClr val="6E7681"/>
                </a:solidFill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7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12529"/>
                </a:solidFill>
                <a:latin typeface="Aptos Display"/>
              </a:rPr>
              <a:t>Feature Selection View</a:t>
            </a:r>
          </a:p>
          <a:p>
            <a:r>
              <a:rPr sz="1200">
                <a:solidFill>
                  <a:srgbClr val="6E7681"/>
                </a:solidFill>
                <a:latin typeface="Aptos"/>
              </a:rPr>
              <a:t>Filter methods keep the feature set small and interpretation-friendly</a:t>
            </a:r>
          </a:p>
        </p:txBody>
      </p:sp>
      <p:pic>
        <p:nvPicPr>
          <p:cNvPr id="5" name="Picture 4" descr="feature_importance_fil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17320"/>
            <a:ext cx="11201400" cy="4343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11480" y="6428232"/>
            <a:ext cx="11384280" cy="2743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455664"/>
            <a:ext cx="1188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681"/>
                </a:solidFill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7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203337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dirty="0">
                <a:solidFill>
                  <a:srgbClr val="212529"/>
                </a:solidFill>
                <a:latin typeface="Aptos Display"/>
              </a:rPr>
              <a:t>Models Used</a:t>
            </a:r>
            <a:endParaRPr sz="1200" dirty="0">
              <a:solidFill>
                <a:srgbClr val="6E7681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303520" cy="1733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2000" dirty="0">
                <a:solidFill>
                  <a:srgbClr val="212529"/>
                </a:solidFill>
                <a:latin typeface="Aptos"/>
              </a:rPr>
              <a:t>Logistic Regression: strong, explainable baseline.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2000" dirty="0">
                <a:solidFill>
                  <a:srgbClr val="212529"/>
                </a:solidFill>
                <a:latin typeface="Aptos"/>
              </a:rPr>
              <a:t>Decision Tree: easy to inspect and discuss.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2000" dirty="0">
                <a:solidFill>
                  <a:srgbClr val="212529"/>
                </a:solidFill>
                <a:latin typeface="Aptos"/>
              </a:rPr>
              <a:t>Random Forest: compact performance boost for comparison.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89320" y="1645920"/>
          <a:ext cx="54406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 marL="50800" marR="50800" marT="25400" marB="25400">
                    <a:solidFill>
                      <a:srgbClr val="174E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Why it helps</a:t>
                      </a:r>
                    </a:p>
                  </a:txBody>
                  <a:tcPr marL="50800" marR="50800" marT="25400" marB="25400">
                    <a:solidFill>
                      <a:srgbClr val="174E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529"/>
                          </a:solidFill>
                          <a:latin typeface="Aptos"/>
                        </a:rPr>
                        <a:t>LR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529"/>
                          </a:solidFill>
                          <a:latin typeface="Aptos"/>
                        </a:rPr>
                        <a:t>Simple and interpretable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529"/>
                          </a:solidFill>
                          <a:latin typeface="Aptos"/>
                        </a:rPr>
                        <a:t>DT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529"/>
                          </a:solidFill>
                          <a:latin typeface="Aptos"/>
                        </a:rPr>
                        <a:t>Visible split rules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12529"/>
                          </a:solidFill>
                          <a:latin typeface="Aptos"/>
                        </a:rPr>
                        <a:t>RF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12529"/>
                          </a:solidFill>
                          <a:latin typeface="Aptos"/>
                        </a:rPr>
                        <a:t>Stronger baseline check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80760" y="4251960"/>
            <a:ext cx="5303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dirty="0">
                <a:solidFill>
                  <a:srgbClr val="C48421"/>
                </a:solidFill>
                <a:latin typeface="Aptos"/>
              </a:rPr>
              <a:t>note: these are baselines, not the final model stack.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428232"/>
            <a:ext cx="11384280" cy="2743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455664"/>
            <a:ext cx="1188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681"/>
                </a:solidFill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7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764299"/>
            <a:ext cx="341420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dirty="0">
                <a:solidFill>
                  <a:srgbClr val="212529"/>
                </a:solidFill>
                <a:latin typeface="Aptos Display"/>
              </a:rPr>
              <a:t>Heart </a:t>
            </a:r>
            <a:r>
              <a:rPr sz="2800" b="1" dirty="0">
                <a:solidFill>
                  <a:srgbClr val="212529"/>
                </a:solidFill>
                <a:latin typeface="Aptos Display"/>
              </a:rPr>
              <a:t>Disease</a:t>
            </a:r>
            <a:r>
              <a:rPr sz="2600" b="1" dirty="0">
                <a:solidFill>
                  <a:srgbClr val="212529"/>
                </a:solidFill>
                <a:latin typeface="Aptos Display"/>
              </a:rPr>
              <a:t> Results</a:t>
            </a:r>
          </a:p>
        </p:txBody>
      </p:sp>
      <p:pic>
        <p:nvPicPr>
          <p:cNvPr id="5" name="Picture 4" descr="model_comparis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6858000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554480"/>
            <a:ext cx="3931920" cy="204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2000">
                <a:solidFill>
                  <a:srgbClr val="212529"/>
                </a:solidFill>
                <a:latin typeface="Aptos"/>
              </a:rPr>
              <a:t>The chart shows a clear baseline comparison.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2000">
                <a:solidFill>
                  <a:srgbClr val="212529"/>
                </a:solidFill>
                <a:latin typeface="Aptos"/>
              </a:rPr>
              <a:t>Use it to discuss trade-offs between simplicity and fit.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2000">
                <a:solidFill>
                  <a:srgbClr val="212529"/>
                </a:solidFill>
                <a:latin typeface="Aptos"/>
              </a:rPr>
              <a:t>Keep the final claims modest until LIME is added.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428232"/>
            <a:ext cx="11384280" cy="2743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455664"/>
            <a:ext cx="1188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681"/>
                </a:solidFill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7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12529"/>
                </a:solidFill>
                <a:latin typeface="Aptos Display"/>
              </a:rPr>
              <a:t>Diabetes Results</a:t>
            </a:r>
          </a:p>
          <a:p>
            <a:r>
              <a:rPr sz="1200">
                <a:solidFill>
                  <a:srgbClr val="6E7681"/>
                </a:solidFill>
                <a:latin typeface="Aptos"/>
              </a:rPr>
              <a:t>Compact summary from the saved evaluation file</a:t>
            </a:r>
          </a:p>
        </p:txBody>
      </p:sp>
      <p:pic>
        <p:nvPicPr>
          <p:cNvPr id="5" name="Picture 4" descr="diabetes_metric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8760"/>
            <a:ext cx="6217920" cy="338328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12280" y="1600200"/>
          <a:ext cx="470916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7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7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7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72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 marL="50800" marR="50800" marT="25400" marB="25400">
                    <a:solidFill>
                      <a:srgbClr val="228B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Acc</a:t>
                      </a:r>
                    </a:p>
                  </a:txBody>
                  <a:tcPr marL="50800" marR="50800" marT="25400" marB="25400">
                    <a:solidFill>
                      <a:srgbClr val="228B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F1</a:t>
                      </a:r>
                    </a:p>
                  </a:txBody>
                  <a:tcPr marL="50800" marR="50800" marT="25400" marB="25400">
                    <a:solidFill>
                      <a:srgbClr val="228B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Note</a:t>
                      </a:r>
                    </a:p>
                  </a:txBody>
                  <a:tcPr marL="50800" marR="50800" marT="25400" marB="25400">
                    <a:solidFill>
                      <a:srgbClr val="228B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529"/>
                          </a:solidFill>
                          <a:latin typeface="Aptos"/>
                        </a:rPr>
                        <a:t>LR baseline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529"/>
                          </a:solidFill>
                          <a:latin typeface="Aptos"/>
                        </a:rPr>
                        <a:t>0.714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529"/>
                          </a:solidFill>
                          <a:latin typeface="Aptos"/>
                        </a:rPr>
                        <a:t>0.560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529"/>
                          </a:solidFill>
                          <a:latin typeface="Aptos"/>
                        </a:rPr>
                        <a:t>simple baseline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529"/>
                          </a:solidFill>
                          <a:latin typeface="Aptos"/>
                        </a:rPr>
                        <a:t>LR tuned + thr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529"/>
                          </a:solidFill>
                          <a:latin typeface="Aptos"/>
                        </a:rPr>
                        <a:t>0.734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529"/>
                          </a:solidFill>
                          <a:latin typeface="Aptos"/>
                        </a:rPr>
                        <a:t>0.701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529"/>
                          </a:solidFill>
                          <a:latin typeface="Aptos"/>
                        </a:rPr>
                        <a:t>best recall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12529"/>
                          </a:solidFill>
                          <a:latin typeface="Aptos"/>
                        </a:rPr>
                        <a:t>RF tuned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529"/>
                          </a:solidFill>
                          <a:latin typeface="Aptos"/>
                        </a:rPr>
                        <a:t>0.766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529"/>
                          </a:solidFill>
                          <a:latin typeface="Aptos"/>
                        </a:rPr>
                        <a:t>0.640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12529"/>
                          </a:solidFill>
                          <a:latin typeface="Aptos"/>
                        </a:rPr>
                        <a:t>best accuracy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11480" y="6428232"/>
            <a:ext cx="11384280" cy="2743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455664"/>
            <a:ext cx="1188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681"/>
                </a:solidFill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7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12529"/>
                </a:solidFill>
                <a:latin typeface="Aptos Display"/>
              </a:rPr>
              <a:t>Correlation View</a:t>
            </a:r>
          </a:p>
          <a:p>
            <a:r>
              <a:rPr sz="1200">
                <a:solidFill>
                  <a:srgbClr val="6E7681"/>
                </a:solidFill>
                <a:latin typeface="Aptos"/>
              </a:rPr>
              <a:t>Useful for talking about engineered features and feature relationships</a:t>
            </a:r>
          </a:p>
        </p:txBody>
      </p:sp>
      <p:pic>
        <p:nvPicPr>
          <p:cNvPr id="5" name="Picture 4" descr="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17320"/>
            <a:ext cx="11155680" cy="4434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8978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dirty="0">
                <a:solidFill>
                  <a:srgbClr val="6E7681"/>
                </a:solidFill>
                <a:latin typeface="Aptos"/>
              </a:rPr>
              <a:t>The strongest relationships help justify a small set of engineered features.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428232"/>
            <a:ext cx="11384280" cy="2743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455664"/>
            <a:ext cx="1188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681"/>
                </a:solidFill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7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433573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dirty="0">
                <a:solidFill>
                  <a:srgbClr val="212529"/>
                </a:solidFill>
                <a:latin typeface="Aptos Display"/>
              </a:rPr>
              <a:t>Model Interpretability Graphs</a:t>
            </a:r>
          </a:p>
        </p:txBody>
      </p:sp>
      <p:pic>
        <p:nvPicPr>
          <p:cNvPr id="5" name="Picture 4" descr="decision_tree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0"/>
            <a:ext cx="6583680" cy="3657600"/>
          </a:xfrm>
          <a:prstGeom prst="rect">
            <a:avLst/>
          </a:prstGeom>
        </p:spPr>
      </p:pic>
      <p:pic>
        <p:nvPicPr>
          <p:cNvPr id="6" name="Picture 5" descr="permutation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554480"/>
            <a:ext cx="4434840" cy="36576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11480" y="6428232"/>
            <a:ext cx="11384280" cy="2743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455664"/>
            <a:ext cx="1188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681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7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2001253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212529"/>
                </a:solidFill>
                <a:latin typeface="Aptos Display"/>
              </a:rPr>
              <a:t>LIME Status</a:t>
            </a:r>
          </a:p>
          <a:p>
            <a:endParaRPr sz="2800" dirty="0">
              <a:solidFill>
                <a:srgbClr val="6E7681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5257800" cy="3246120"/>
          </a:xfrm>
          <a:prstGeom prst="roundRect">
            <a:avLst/>
          </a:prstGeom>
          <a:solidFill>
            <a:srgbClr val="F1F5F9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212529"/>
                </a:solidFill>
              </a:rPr>
              <a:t>What LIME will show</a:t>
            </a:r>
          </a:p>
          <a:p>
            <a:r>
              <a:rPr sz="2000">
                <a:solidFill>
                  <a:srgbClr val="212529"/>
                </a:solidFill>
              </a:rPr>
              <a:t>• Local explanation for one patient/sample</a:t>
            </a:r>
          </a:p>
          <a:p>
            <a:r>
              <a:rPr sz="2000">
                <a:solidFill>
                  <a:srgbClr val="212529"/>
                </a:solidFill>
              </a:rPr>
              <a:t>• Feature contributions around one prediction</a:t>
            </a:r>
          </a:p>
          <a:p>
            <a:r>
              <a:rPr sz="2000">
                <a:solidFill>
                  <a:srgbClr val="212529"/>
                </a:solidFill>
              </a:rPr>
              <a:t>• Why the model predicted disease / no disease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1600200"/>
            <a:ext cx="548640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rgbClr val="BD4848"/>
                </a:solidFill>
              </a:rPr>
              <a:t>Current status</a:t>
            </a:r>
          </a:p>
          <a:p>
            <a:r>
              <a:rPr sz="2000" dirty="0">
                <a:solidFill>
                  <a:srgbClr val="212529"/>
                </a:solidFill>
              </a:rPr>
              <a:t>• Baselines are ready</a:t>
            </a:r>
          </a:p>
          <a:p>
            <a:r>
              <a:rPr sz="2000" dirty="0">
                <a:solidFill>
                  <a:srgbClr val="212529"/>
                </a:solidFill>
              </a:rPr>
              <a:t>• Graphs are ready</a:t>
            </a:r>
          </a:p>
          <a:p>
            <a:r>
              <a:rPr sz="2000" dirty="0">
                <a:solidFill>
                  <a:srgbClr val="212529"/>
                </a:solidFill>
              </a:rPr>
              <a:t>• LIME discussion </a:t>
            </a:r>
            <a:r>
              <a:rPr lang="en-US" sz="2000" dirty="0">
                <a:solidFill>
                  <a:srgbClr val="212529"/>
                </a:solidFill>
              </a:rPr>
              <a:t>done, implementation in progress</a:t>
            </a:r>
            <a:endParaRPr sz="2000" dirty="0">
              <a:solidFill>
                <a:srgbClr val="212529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11480" y="6428232"/>
            <a:ext cx="11384280" cy="2743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1284088" y="6455664"/>
            <a:ext cx="31611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681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7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184313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212529"/>
                </a:solidFill>
                <a:latin typeface="Aptos Display"/>
              </a:rPr>
              <a:t>Takeaways</a:t>
            </a:r>
            <a:endParaRPr sz="2800" dirty="0">
              <a:solidFill>
                <a:srgbClr val="6E7681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5669280" cy="142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en-US" sz="2000" dirty="0">
                <a:solidFill>
                  <a:srgbClr val="212529"/>
                </a:solidFill>
                <a:latin typeface="Aptos"/>
              </a:rPr>
              <a:t>Current state</a:t>
            </a:r>
            <a:r>
              <a:rPr sz="2000" dirty="0">
                <a:solidFill>
                  <a:srgbClr val="212529"/>
                </a:solidFill>
                <a:latin typeface="Aptos"/>
              </a:rPr>
              <a:t>: data, features, models, and plots.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2000" dirty="0">
                <a:solidFill>
                  <a:srgbClr val="212529"/>
                </a:solidFill>
                <a:latin typeface="Aptos"/>
              </a:rPr>
              <a:t>Keep the story focused on simplicity and interpretability.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2000" dirty="0">
                <a:solidFill>
                  <a:srgbClr val="212529"/>
                </a:solidFill>
                <a:latin typeface="Aptos"/>
              </a:rPr>
              <a:t>Do not overclaim results until LIME is completed.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600200"/>
            <a:ext cx="4937760" cy="2971800"/>
          </a:xfrm>
          <a:prstGeom prst="roundRect">
            <a:avLst/>
          </a:prstGeom>
          <a:solidFill>
            <a:srgbClr val="F1F5F9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rgbClr val="174E7C"/>
                </a:solidFill>
              </a:rPr>
              <a:t>Next steps</a:t>
            </a:r>
          </a:p>
          <a:p>
            <a:r>
              <a:rPr sz="2000" dirty="0">
                <a:solidFill>
                  <a:srgbClr val="212529"/>
                </a:solidFill>
              </a:rPr>
              <a:t>• Finish LIME examples</a:t>
            </a:r>
          </a:p>
          <a:p>
            <a:r>
              <a:rPr sz="2000" dirty="0">
                <a:solidFill>
                  <a:srgbClr val="212529"/>
                </a:solidFill>
              </a:rPr>
              <a:t>• Add 1-2 sample explanations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428232"/>
            <a:ext cx="11384280" cy="2743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TextBox 8"/>
          <p:cNvSpPr txBox="1"/>
          <p:nvPr/>
        </p:nvSpPr>
        <p:spPr>
          <a:xfrm>
            <a:off x="1284088" y="6455664"/>
            <a:ext cx="31611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dirty="0">
                <a:solidFill>
                  <a:srgbClr val="6E7681"/>
                </a:solidFill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478</Words>
  <Application>Microsoft Office PowerPoint</Application>
  <PresentationFormat>Widescreen</PresentationFormat>
  <Paragraphs>108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VICTUS</dc:creator>
  <cp:keywords/>
  <dc:description>generated using python-pptx</dc:description>
  <cp:lastModifiedBy>VICTUS</cp:lastModifiedBy>
  <cp:revision>3</cp:revision>
  <dcterms:created xsi:type="dcterms:W3CDTF">2013-01-27T09:14:16Z</dcterms:created>
  <dcterms:modified xsi:type="dcterms:W3CDTF">2026-05-14T16:41:24Z</dcterms:modified>
  <cp:category/>
</cp:coreProperties>
</file>